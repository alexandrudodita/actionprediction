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Recunoasterea actiunilor pe UCF101: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Pose vs. Optical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7D2FE"/>
                </a:solidFill>
                <a:latin typeface="Calibri"/>
              </a:rPr>
              <a:t>MLP (baseline) vs. ST-GCN  -  comparatie pe pose-only, optical-flow-only si fuziune (PoseOFF)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2 septembrie 2026  -  split1 oficial UCF101, 101 clase, 3783 clipuri de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334155"/>
                </a:solidFill>
                <a:latin typeface="Calibri"/>
              </a:rPr>
              <a:t>De la clip video la tensor de caracteristici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245" y="1554480"/>
            <a:ext cx="10189028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029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▸  13.320 clipuri UCF101, 101 clase de actiuni; split oficial train/test (grup-disjunct, comparabil cu Tabelul I din PoseOFF).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▸  Pose: HRNet, 17 articulatii COCO, (x, y, score) -- precalculat, nu se antreneaza extractorul.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▸  Flux optic: DIS (OpenCV), fereastra 5x5 centrata pe fiecare articulatie, intre cadre consecutive esantionate.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▸  Rezultat: X[T=32, V=17, C=53] per clip -- 3 canale pose + 50 canale flux (5x5x2).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UCF101 - Pose + Optical Flow - MLP vs ST-GCN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ABLATII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334155"/>
                </a:solidFill>
                <a:latin typeface="Calibri"/>
              </a:rPr>
              <a:t>Trei variante de intrare, aceleasi date</a:t>
            </a:r>
          </a:p>
        </p:txBody>
      </p:sp>
      <p:pic>
        <p:nvPicPr>
          <p:cNvPr id="5" name="Picture 4" descr="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160" y="1554480"/>
            <a:ext cx="858520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2062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▸  pose-only: doar scheletul (x, y, score) -- forma corpului, fara aparenta sau miscare fina.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▸  optical-flow-only: doar fereastra de flux 5x5 din jurul fiecarei articulatii -- miscare locala, fara pozitia globala.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▸  combined (PoseOFF): pose + flux concatenate -- ipoteza articolului: flux + schelet &gt; oricare singur.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▸  Aceeasi impartire train/test, aceiasi hiperparametri, pentru fiecare model (MLP si ST-GCN) -&gt; comparatie corecta.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UCF101 - Pose + Optical Flow - MLP vs ST-GCN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34155"/>
                </a:solidFill>
                <a:latin typeface="Calibri"/>
              </a:rPr>
              <a:t>ARHITECTURA --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334155"/>
                </a:solidFill>
                <a:latin typeface="Calibri"/>
              </a:rPr>
              <a:t>MLP: statistici temporale + retea complet conectata</a:t>
            </a:r>
          </a:p>
        </p:txBody>
      </p:sp>
      <p:pic>
        <p:nvPicPr>
          <p:cNvPr id="5" name="Picture 4" descr="mlp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030" y="1737360"/>
            <a:ext cx="9789458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3891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▸  Fiecare clip -&gt; media si deviatia standard ale caracteristicilor peste cele T=32 cadre (per articulatie, per canal).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▸  Vectorul rezultat (V x C x 2) intra intr-un MLP: FC(256)-ReLU-Dropout x2 -&gt; FC(101) -&gt; softmax.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▸  Rapid de antrenat (secunde), dar arunca ordinea temporala si nu foloseste structura de graf a scheletului.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UCF101 - Pose + Optical Flow - MLP vs ST-GCN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ARHITECTURA -- MODEL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334155"/>
                </a:solidFill>
                <a:latin typeface="Calibri"/>
              </a:rPr>
              <a:t>ST-GCN: convolutii spatio-temporale pe graful scheletului</a:t>
            </a:r>
          </a:p>
        </p:txBody>
      </p:sp>
      <p:pic>
        <p:nvPicPr>
          <p:cNvPr id="5" name="Picture 4" descr="stgcn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70" y="1417320"/>
            <a:ext cx="10931978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UCF101 - Pose + Optical Flow - MLP vs ST-GCN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E123C"/>
                </a:solidFill>
                <a:latin typeface="Calibri"/>
              </a:rPr>
              <a:t>DE 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334155"/>
                </a:solidFill>
                <a:latin typeface="Calibri"/>
              </a:rPr>
              <a:t>De ce ST-GCN ar trebui sa fie superior -- teorie vs. rezultatul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4748B"/>
                </a:solidFill>
                <a:latin typeface="Calibri"/>
              </a:rPr>
              <a:t>MLP (baseline) -- limitari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64748B"/>
                </a:solidFill>
                <a:latin typeface="Calibri"/>
              </a:rPr>
              <a:t>▸  Pooling mean+std peste timp distruge ordinea temporala -- o fandare si o aterizare arata la fel dupa mediere.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64748B"/>
                </a:solidFill>
                <a:latin typeface="Calibri"/>
              </a:rPr>
              <a:t>▸  Fiecare articulatie e tratata izolat, ca un numar intr-un vector plat -- niciun prior despre schelet.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64748B"/>
                </a:solidFill>
                <a:latin typeface="Calibri"/>
              </a:rPr>
              <a:t>▸  Fereastra de flux 5x5 e aplatizata direct in numere -- structura ei 2D (gradientii spatiali) se pierde.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F46E5"/>
                </a:solidFill>
                <a:latin typeface="Calibri"/>
              </a:rPr>
              <a:t>ST-GCN -- avantaje teoretice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334155"/>
                </a:solidFill>
                <a:latin typeface="Calibri"/>
              </a:rPr>
              <a:t>▸  Pastreaza toate cele T=32 cadre; convolutia temporala (kernel 9) invata direct tiparele de miscare.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334155"/>
                </a:solidFill>
                <a:latin typeface="Calibri"/>
              </a:rPr>
              <a:t>▸  Graf-convolutiile spatiale mixeaza informatie intre articulatii conectate anatomic (schelet COCO-17).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334155"/>
                </a:solidFill>
                <a:latin typeface="Calibri"/>
              </a:rPr>
              <a:t>▸  Embedding-ul de flux optic (mini-CNN) e antrenat end-to-end -- gradientii curg prin fereastra 5x5, nu doar o medie statica.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BE123C"/>
                </a:solidFill>
                <a:latin typeface="Calibri"/>
              </a:rPr>
              <a:t>▸  In practica (acest rulaj): avantajele de mai sus nu s-au materializat inca -- vezi rezultatele de mai jos.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UCF101 - Pose + Optical Flow - MLP vs ST-GCN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REZULTATE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334155"/>
                </a:solidFill>
                <a:latin typeface="Calibri"/>
              </a:rPr>
              <a:t>MLP vs ST-GCN -- acuratete exacta pe test (3783 clipuri)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80160" y="1828800"/>
          <a:ext cx="9601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03120"/>
                <a:gridCol w="2103120"/>
                <a:gridCol w="21031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Varianta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ST-GCN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Delta (ST-GCN - MLP)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34155"/>
                          </a:solidFill>
                          <a:latin typeface="Calibri"/>
                        </a:rPr>
                        <a:t>pose-only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4155"/>
                          </a:solidFill>
                          <a:latin typeface="Calibri"/>
                        </a:rPr>
                        <a:t>49.43%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4155"/>
                          </a:solidFill>
                          <a:latin typeface="Calibri"/>
                        </a:rPr>
                        <a:t>27.50%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4155"/>
                          </a:solidFill>
                          <a:latin typeface="Calibri"/>
                        </a:rPr>
                        <a:t>-21.93 pct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34155"/>
                          </a:solidFill>
                          <a:latin typeface="Calibri"/>
                        </a:rPr>
                        <a:t>optical-flow-only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4155"/>
                          </a:solidFill>
                          <a:latin typeface="Calibri"/>
                        </a:rPr>
                        <a:t>31.01%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4155"/>
                          </a:solidFill>
                          <a:latin typeface="Calibri"/>
                        </a:rPr>
                        <a:t>20.40%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4155"/>
                          </a:solidFill>
                          <a:latin typeface="Calibri"/>
                        </a:rPr>
                        <a:t>-10.61 pct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34155"/>
                          </a:solidFill>
                          <a:latin typeface="Calibri"/>
                        </a:rPr>
                        <a:t>combined (PoseOFF)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4155"/>
                          </a:solidFill>
                          <a:latin typeface="Calibri"/>
                        </a:rPr>
                        <a:t>53.16%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4155"/>
                          </a:solidFill>
                          <a:latin typeface="Calibri"/>
                        </a:rPr>
                        <a:t>30.00%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4155"/>
                          </a:solidFill>
                          <a:latin typeface="Calibri"/>
                        </a:rPr>
                        <a:t>-23.16 pct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80160" y="502920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1">
                <a:solidFill>
                  <a:srgbClr val="64748B"/>
                </a:solidFill>
                <a:latin typeface="Calibri"/>
              </a:rPr>
              <a:t>MLP (baseline) depaseste ST-GCN pe toate cele 3 variante in acest rulaj, in ciuda avantajelor arhitecturale ale acestuia din urma -- semn de under-training (40 epoci, fara pretrain, dataset relativ mic) mai degraba decat o limita structurala. Fuziunea (PoseOFF) aduce cel mai bun rezultat pentru ambele modele: MLP 53.2%, ST-GCN 30.0%.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UCF101 - Pose + Optical Flow - MLP vs ST-GCN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REZULTATE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334155"/>
                </a:solidFill>
                <a:latin typeface="Calibri"/>
              </a:rPr>
              <a:t>Comparatie vizuala side-by-side</a:t>
            </a:r>
          </a:p>
        </p:txBody>
      </p:sp>
      <p:pic>
        <p:nvPicPr>
          <p:cNvPr id="5" name="Picture 4" descr="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5602"/>
            <a:ext cx="6949440" cy="3384075"/>
          </a:xfrm>
          <a:prstGeom prst="rect">
            <a:avLst/>
          </a:prstGeom>
        </p:spPr>
      </p:pic>
      <p:pic>
        <p:nvPicPr>
          <p:cNvPr id="6" name="Picture 5" descr="delta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938592"/>
            <a:ext cx="4480560" cy="21695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598932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Diferenta ST-GCN - MLP, pe fiecare varianta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UCF101 - Pose + Optical Flow - MLP vs ST-GCN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334155"/>
                </a:solidFill>
                <a:latin typeface="Calibri"/>
              </a:rPr>
              <a:t>Aplicatia interactiva pose + flux + fuziune</a:t>
            </a:r>
          </a:p>
        </p:txBody>
      </p:sp>
      <p:pic>
        <p:nvPicPr>
          <p:cNvPr id="5" name="Picture 4" descr="header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244" y="1417320"/>
            <a:ext cx="5727031" cy="777240"/>
          </a:xfrm>
          <a:prstGeom prst="rect">
            <a:avLst/>
          </a:prstGeom>
        </p:spPr>
      </p:pic>
      <p:pic>
        <p:nvPicPr>
          <p:cNvPr id="6" name="Picture 5" descr="clip_wallpush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85" y="2377440"/>
            <a:ext cx="10942149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440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64748B"/>
                </a:solidFill>
                <a:latin typeface="Calibri"/>
              </a:rPr>
              <a:t>▸  Exemplu real (v_WallPushups): pose singur greseste ("PlayingViolin", 48.3%), flux singur nimereste ("WallPushups", 74.8%), combinatia ramane corecta -- fluxul optic recupereaza cazurile in care scheletul e ambiguu.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UCF101 - Pose + Optical Flow - MLP vs ST-GCN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7706"/>
                </a:solidFill>
                <a:latin typeface="Calibri"/>
              </a:rPr>
              <a:t>CONCLUZII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334155"/>
                </a:solidFill>
                <a:latin typeface="Calibri"/>
              </a:rPr>
              <a:t>Ce am aflat si ce urmeaza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97706"/>
                </a:solidFill>
                <a:latin typeface="Calibri"/>
              </a:rPr>
              <a:t>Concluzii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50">
                <a:solidFill>
                  <a:srgbClr val="334155"/>
                </a:solidFill>
                <a:latin typeface="Calibri"/>
              </a:rPr>
              <a:t>▸  In acest rulaj, MLP (baseline) depaseste ST-GCN pe toate cele 3 variante (+21.9 / +10.6 / +23.2 puncte procentuale) -- avantajul teoretic al structurii spatio-temporale nu s-a materializat inca, probabil din cauza antrenarii scurte (40 epoci, fara pretrain) pe un set de date relativ mic.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50">
                <a:solidFill>
                  <a:srgbClr val="334155"/>
                </a:solidFill>
                <a:latin typeface="Calibri"/>
              </a:rPr>
              <a:t>▸  Fuziunea pose + flux optic (PoseOFF) imbunatateste ambele modele fata de pose-only, confirmand ipoteza articolului.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50">
                <a:solidFill>
                  <a:srgbClr val="334155"/>
                </a:solidFill>
                <a:latin typeface="Calibri"/>
              </a:rPr>
              <a:t>▸  Fluxul optic singur e mai slab decat pose-ul singur la ambele modele, dar aduce informatie complementara utila la fuziune.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4748B"/>
                </a:solidFill>
                <a:latin typeface="Calibri"/>
              </a:rPr>
              <a:t>Pasi urmatori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64748B"/>
                </a:solidFill>
                <a:latin typeface="Calibri"/>
              </a:rPr>
              <a:t>▸  Antrenare mai lunga / bag-of-tricks complet ST-GCN++ (PYSKL) pentru a valorifica avantajele arhitecturale si a apropia rezultatele de articol (47-70%), depasind baseline-ul MLP.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64748B"/>
                </a:solidFill>
                <a:latin typeface="Calibri"/>
              </a:rPr>
              <a:t>▸  RAFT in loc de DIS pentru flux optic (mai precis, mai lent) -- rulat pe GPU pe seturile complete.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64748B"/>
                </a:solidFill>
                <a:latin typeface="Calibri"/>
              </a:rPr>
              <a:t>▸  Evaluare sub observatie partiala (10%-100% din clip), curba acuratete-vs-ratio, ca in Fig. 5/6 din PoseOFF.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UCF101 - Pose + Optical Flow - MLP vs ST-GCN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